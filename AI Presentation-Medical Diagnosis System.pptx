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6" r:id="rId3"/>
    <p:sldId id="258" r:id="rId4"/>
    <p:sldId id="257" r:id="rId5"/>
    <p:sldId id="291" r:id="rId6"/>
    <p:sldId id="292" r:id="rId7"/>
    <p:sldId id="297" r:id="rId8"/>
    <p:sldId id="259" r:id="rId9"/>
    <p:sldId id="299" r:id="rId10"/>
    <p:sldId id="295" r:id="rId11"/>
    <p:sldId id="294" r:id="rId12"/>
    <p:sldId id="293" r:id="rId13"/>
    <p:sldId id="296" r:id="rId14"/>
  </p:sldIdLst>
  <p:sldSz cx="9144000" cy="5143500" type="screen16x9"/>
  <p:notesSz cx="6858000" cy="9144000"/>
  <p:embeddedFontLst>
    <p:embeddedFont>
      <p:font typeface="Fira Sans Condensed" panose="020B0503050000020004" pitchFamily="34" charset="0"/>
      <p:regular r:id="rId16"/>
      <p:bold r:id="rId17"/>
      <p:italic r:id="rId18"/>
      <p:boldItalic r:id="rId19"/>
    </p:embeddedFont>
    <p:embeddedFont>
      <p:font typeface="Fira Sans Condensed Light" panose="020B0403050000020004" pitchFamily="34" charset="0"/>
      <p:regular r:id="rId20"/>
    </p:embeddedFont>
    <p:embeddedFont>
      <p:font typeface="Rajdhani" panose="020B0604020202020204" charset="0"/>
      <p:regular r:id="rId21"/>
      <p:bold r:id="rId22"/>
    </p:embeddedFont>
    <p:embeddedFont>
      <p:font typeface="Roboto Condensed Light" panose="02000000000000000000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7323B"/>
    <a:srgbClr val="000000"/>
    <a:srgbClr val="066271"/>
    <a:srgbClr val="036350"/>
    <a:srgbClr val="00C3B1"/>
    <a:srgbClr val="DA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E621A6-C8C5-450B-BCF0-0A13C52AF20B}">
  <a:tblStyle styleId="{F9E621A6-C8C5-450B-BCF0-0A13C52AF2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6" y="90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5:36:5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3175 6218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5:36:5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3175 6218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5:36:5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3175 6218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5:36:5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3175 6218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2T15:36:55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3175 6218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45DAE081-B525-B0E1-E5D9-14B0DCA39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F68FDB00-0592-F27F-2D64-66026022B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F5489BD9-7185-B6FA-0A3C-665C8DBAE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39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5FC51D93-EBB5-C77A-4C5A-8A337042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14CE62D9-7BAE-3F10-A61C-9E9D331E4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996821FC-034E-90BE-036E-D9B13EF19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25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BC013589-3AF0-E860-93E6-2347E556C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78724373-8658-2077-A3CE-C69D7B27C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790F62BB-98E5-64AD-E6C3-6C6D2744B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2786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4587F583-4B3A-E4D7-BB5D-A33D46203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C86B7622-A6F9-665D-F59E-D2FBBDA1B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5EF0E95E-2397-783B-07D7-ACD131871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2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0.png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dirty="0"/>
              <a:t>AI Medical Diagnosis System</a:t>
            </a:r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4139125" y="3805731"/>
            <a:ext cx="4291500" cy="1142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" sz="1800" b="1" dirty="0">
                <a:solidFill>
                  <a:srgbClr val="F3F3F3"/>
                </a:solidFill>
                <a:latin typeface="Arial"/>
                <a:cs typeface="Arial"/>
                <a:sym typeface="Rajdhani"/>
              </a:rPr>
              <a:t>Dua Kulsoom (37)</a:t>
            </a:r>
            <a:endParaRPr lang="en-US" sz="1800" b="1" dirty="0">
              <a:solidFill>
                <a:srgbClr val="F3F3F3"/>
              </a:solidFill>
              <a:latin typeface="Arial"/>
              <a:cs typeface="Arial"/>
            </a:endParaRPr>
          </a:p>
          <a:p>
            <a:pPr marL="0" indent="0" algn="ctr"/>
            <a:r>
              <a:rPr lang="en" sz="1800" b="1" dirty="0">
                <a:solidFill>
                  <a:srgbClr val="F3F3F3"/>
                </a:solidFill>
                <a:latin typeface="Arial"/>
                <a:cs typeface="Arial"/>
                <a:sym typeface="Rajdhani"/>
              </a:rPr>
              <a:t>Mahnoor M. Ayub (57)</a:t>
            </a:r>
            <a:endParaRPr lang="en" sz="1800" b="1" dirty="0">
              <a:solidFill>
                <a:srgbClr val="F3F3F3"/>
              </a:solidFill>
              <a:latin typeface="Arial"/>
              <a:cs typeface="Arial"/>
            </a:endParaRPr>
          </a:p>
          <a:p>
            <a:pPr marL="0" indent="0" algn="ctr"/>
            <a:r>
              <a:rPr lang="en" sz="1800" b="1" dirty="0">
                <a:solidFill>
                  <a:srgbClr val="F3F3F3"/>
                </a:solidFill>
                <a:latin typeface="Arial"/>
                <a:cs typeface="Arial"/>
                <a:sym typeface="Rajdhani"/>
              </a:rPr>
              <a:t>BS-CS, 6th, 'A', 14th batch</a:t>
            </a:r>
            <a:endParaRPr lang="en" sz="1800" b="1" dirty="0">
              <a:solidFill>
                <a:srgbClr val="F3F3F3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l="25302" r="25297"/>
          <a:stretch/>
        </p:blipFill>
        <p:spPr>
          <a:xfrm>
            <a:off x="767950" y="978400"/>
            <a:ext cx="3049450" cy="34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 dirty="0"/>
              <a:t>TABLE OF CONTENTS</a:t>
            </a:r>
          </a:p>
        </p:txBody>
      </p:sp>
      <p:grpSp>
        <p:nvGrpSpPr>
          <p:cNvPr id="71" name="Google Shape;71;p17"/>
          <p:cNvGrpSpPr/>
          <p:nvPr/>
        </p:nvGrpSpPr>
        <p:grpSpPr>
          <a:xfrm>
            <a:off x="5073701" y="2053857"/>
            <a:ext cx="4128491" cy="823704"/>
            <a:chOff x="5623635" y="1651063"/>
            <a:chExt cx="4128491" cy="823704"/>
          </a:xfrm>
        </p:grpSpPr>
        <p:sp>
          <p:nvSpPr>
            <p:cNvPr id="72" name="Google Shape;72;p17"/>
            <p:cNvSpPr txBox="1"/>
            <p:nvPr/>
          </p:nvSpPr>
          <p:spPr>
            <a:xfrm>
              <a:off x="5623635" y="1651063"/>
              <a:ext cx="4128491" cy="4317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" sz="2400" b="1" dirty="0">
                  <a:solidFill>
                    <a:schemeClr val="lt2"/>
                  </a:solidFill>
                  <a:latin typeface="Rajdhani"/>
                  <a:cs typeface="Rajdhani"/>
                  <a:sym typeface="Rajdhani"/>
                </a:rPr>
                <a:t>SYSTEM WORKFLOW &amp; MODELS</a:t>
              </a:r>
              <a:endParaRPr lang="en-US" sz="2400" b="1" dirty="0">
                <a:solidFill>
                  <a:schemeClr val="lt2"/>
                </a:solidFill>
                <a:latin typeface="Rajdhani"/>
                <a:cs typeface="Rajdhani"/>
              </a:endParaRPr>
            </a:p>
          </p:txBody>
        </p:sp>
        <p:sp>
          <p:nvSpPr>
            <p:cNvPr id="73" name="Google Shape;73;p17"/>
            <p:cNvSpPr txBox="1"/>
            <p:nvPr/>
          </p:nvSpPr>
          <p:spPr>
            <a:xfrm>
              <a:off x="5699118" y="1930567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dirty="0">
                  <a:solidFill>
                    <a:schemeClr val="lt2"/>
                  </a:solidFill>
                  <a:ea typeface="Fira Sans Condensed"/>
                  <a:sym typeface="Fira Sans Condensed"/>
                </a:rPr>
                <a:t>How data is processed and AI models applied</a:t>
              </a:r>
              <a:endParaRPr lang="en-US" dirty="0">
                <a:solidFill>
                  <a:schemeClr val="lt2"/>
                </a:solidFill>
              </a:endParaRPr>
            </a:p>
          </p:txBody>
        </p:sp>
      </p:grpSp>
      <p:grpSp>
        <p:nvGrpSpPr>
          <p:cNvPr id="74" name="Google Shape;74;p17"/>
          <p:cNvGrpSpPr/>
          <p:nvPr/>
        </p:nvGrpSpPr>
        <p:grpSpPr>
          <a:xfrm>
            <a:off x="1267797" y="3013808"/>
            <a:ext cx="4268670" cy="910204"/>
            <a:chOff x="2227486" y="3289160"/>
            <a:chExt cx="4268670" cy="910204"/>
          </a:xfrm>
        </p:grpSpPr>
        <p:sp>
          <p:nvSpPr>
            <p:cNvPr id="75" name="Google Shape;75;p17"/>
            <p:cNvSpPr txBox="1"/>
            <p:nvPr/>
          </p:nvSpPr>
          <p:spPr>
            <a:xfrm>
              <a:off x="2227486" y="3289160"/>
              <a:ext cx="4268670" cy="474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" sz="2400" b="1" dirty="0">
                  <a:solidFill>
                    <a:schemeClr val="lt2"/>
                  </a:solidFill>
                  <a:latin typeface="Rajdhani"/>
                  <a:cs typeface="Rajdhani"/>
                  <a:sym typeface="Rajdhani"/>
                </a:rPr>
                <a:t>RESULTS &amp; COMPARISON</a:t>
              </a:r>
              <a:endParaRPr lang="en-US" sz="2400" b="1" dirty="0">
                <a:solidFill>
                  <a:schemeClr val="lt2"/>
                </a:solidFill>
                <a:latin typeface="Rajdhani"/>
                <a:cs typeface="Rajdhani"/>
              </a:endParaRPr>
            </a:p>
          </p:txBody>
        </p:sp>
        <p:sp>
          <p:nvSpPr>
            <p:cNvPr id="76" name="Google Shape;76;p17"/>
            <p:cNvSpPr txBox="1"/>
            <p:nvPr/>
          </p:nvSpPr>
          <p:spPr>
            <a:xfrm>
              <a:off x="2313756" y="3650664"/>
              <a:ext cx="2155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dirty="0">
                  <a:solidFill>
                    <a:schemeClr val="lt2"/>
                  </a:solidFill>
                  <a:sym typeface="Fira Sans Condensed"/>
                </a:rPr>
                <a:t>Model accuracies and insights</a:t>
              </a:r>
              <a:endParaRPr lang="en-US" dirty="0"/>
            </a:p>
            <a:p>
              <a:pPr marL="285750" indent="-285750">
                <a:buChar char="•"/>
              </a:pPr>
              <a:endParaRPr lang="en-US" dirty="0">
                <a:sym typeface="Fira Sans Condensed"/>
              </a:endParaRPr>
            </a:p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lang="en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</a:endParaRPr>
            </a:p>
          </p:txBody>
        </p:sp>
      </p:grpSp>
      <p:sp>
        <p:nvSpPr>
          <p:cNvPr id="79" name="Google Shape;79;p17"/>
          <p:cNvSpPr txBox="1"/>
          <p:nvPr/>
        </p:nvSpPr>
        <p:spPr>
          <a:xfrm>
            <a:off x="5084486" y="3957594"/>
            <a:ext cx="2155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chemeClr val="lt2"/>
                </a:solidFill>
                <a:sym typeface="Fira Sans Condensed"/>
              </a:rPr>
              <a:t>Key takeaways and next steps</a:t>
            </a:r>
            <a:endParaRPr lang="en-US" dirty="0">
              <a:solidFill>
                <a:schemeClr val="lt2"/>
              </a:solidFill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1289363" y="1502963"/>
            <a:ext cx="4484332" cy="739358"/>
            <a:chOff x="2313750" y="1631021"/>
            <a:chExt cx="4484332" cy="739358"/>
          </a:xfrm>
        </p:grpSpPr>
        <p:sp>
          <p:nvSpPr>
            <p:cNvPr id="81" name="Google Shape;81;p17"/>
            <p:cNvSpPr txBox="1"/>
            <p:nvPr/>
          </p:nvSpPr>
          <p:spPr>
            <a:xfrm>
              <a:off x="2313750" y="1631021"/>
              <a:ext cx="4484332" cy="377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INTRODUCTION AND DATASET</a:t>
              </a:r>
              <a:endPara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</a:endParaRPr>
            </a:p>
          </p:txBody>
        </p:sp>
        <p:sp>
          <p:nvSpPr>
            <p:cNvPr id="82" name="Google Shape;82;p17"/>
            <p:cNvSpPr txBox="1"/>
            <p:nvPr/>
          </p:nvSpPr>
          <p:spPr>
            <a:xfrm>
              <a:off x="2313756" y="1826179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>
                  <a:solidFill>
                    <a:schemeClr val="lt2"/>
                  </a:solidFill>
                  <a:sym typeface="Fira Sans Condensed"/>
                </a:rPr>
                <a:t>Coronary artery disease overview and dataset details</a:t>
              </a:r>
              <a:endParaRPr lang="en-US" dirty="0"/>
            </a:p>
          </p:txBody>
        </p:sp>
      </p:grpSp>
      <p:sp>
        <p:nvSpPr>
          <p:cNvPr id="83" name="Google Shape;83;p17"/>
          <p:cNvSpPr/>
          <p:nvPr/>
        </p:nvSpPr>
        <p:spPr>
          <a:xfrm>
            <a:off x="427035" y="1436675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lang="en" sz="4000" b="1" dirty="0">
              <a:solidFill>
                <a:schemeClr val="lt2"/>
              </a:solidFill>
              <a:latin typeface="Rajdhani"/>
              <a:ea typeface="Rajdhani"/>
              <a:cs typeface="Rajdhan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241026" y="2040525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lang="en" sz="4000" b="1" dirty="0">
              <a:solidFill>
                <a:schemeClr val="lt2"/>
              </a:solidFill>
              <a:latin typeface="Rajdhani"/>
              <a:ea typeface="Rajdhani"/>
              <a:cs typeface="Rajdhan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27035" y="3032943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lang="en" sz="4000" b="1" dirty="0">
              <a:solidFill>
                <a:schemeClr val="lt2"/>
              </a:solidFill>
              <a:latin typeface="Rajdhani"/>
              <a:ea typeface="Rajdhani"/>
              <a:cs typeface="Rajdhan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251809" y="3647575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</a:rPr>
              <a:t>4</a:t>
            </a:r>
          </a:p>
        </p:txBody>
      </p:sp>
      <p:sp>
        <p:nvSpPr>
          <p:cNvPr id="3" name="Google Shape;72;p17">
            <a:extLst>
              <a:ext uri="{FF2B5EF4-FFF2-40B4-BE49-F238E27FC236}">
                <a16:creationId xmlns:a16="http://schemas.microsoft.com/office/drawing/2014/main" id="{A491473C-574F-F2E5-A4E9-E811D7532DF4}"/>
              </a:ext>
            </a:extLst>
          </p:cNvPr>
          <p:cNvSpPr txBox="1"/>
          <p:nvPr/>
        </p:nvSpPr>
        <p:spPr>
          <a:xfrm>
            <a:off x="5075139" y="3672747"/>
            <a:ext cx="4128491" cy="43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400" b="1" dirty="0">
                <a:solidFill>
                  <a:schemeClr val="lt2"/>
                </a:solidFill>
                <a:latin typeface="Rajdhani"/>
                <a:cs typeface="Rajdhan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60158" y="479338"/>
            <a:ext cx="87260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dirty="0"/>
              <a:t>Coronary Artery Disease Prediction Using AI</a:t>
            </a:r>
            <a:endParaRPr lang="en-US" sz="3600" dirty="0"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54399"/>
            <a:ext cx="6913800" cy="3154076"/>
          </a:xfrm>
          <a:prstGeom prst="rect">
            <a:avLst/>
          </a:prstGeom>
          <a:solidFill>
            <a:srgbClr val="07323B">
              <a:alpha val="5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/>
              <a:buChar char="•"/>
            </a:pPr>
            <a:r>
              <a:rPr lang="en" sz="1600" dirty="0">
                <a:solidFill>
                  <a:schemeClr val="lt2"/>
                </a:solidFill>
              </a:rPr>
              <a:t>Coronary artery disease (CAD) is a leading cause of heart-related illnesses worldwide.</a:t>
            </a:r>
            <a:endParaRPr lang="en-US" sz="1600" dirty="0">
              <a:solidFill>
                <a:schemeClr val="lt2"/>
              </a:solidFill>
            </a:endParaRPr>
          </a:p>
          <a:p>
            <a:pPr>
              <a:buFont typeface="Arial"/>
              <a:buChar char="•"/>
            </a:pPr>
            <a:r>
              <a:rPr lang="en" sz="1600" dirty="0">
                <a:solidFill>
                  <a:schemeClr val="lt2"/>
                </a:solidFill>
              </a:rPr>
              <a:t>Early detection is crucial to prevent severe complications and improve patient outcomes.</a:t>
            </a:r>
          </a:p>
          <a:p>
            <a:pPr>
              <a:buFont typeface="Arial"/>
              <a:buChar char="•"/>
            </a:pPr>
            <a:r>
              <a:rPr lang="en" sz="1600" dirty="0">
                <a:solidFill>
                  <a:schemeClr val="lt2"/>
                </a:solidFill>
              </a:rPr>
              <a:t>This project applies artificial intelligence to predict the likelihood of CAD using patient health records.</a:t>
            </a:r>
            <a:endParaRPr lang="en-US" sz="1600" dirty="0">
              <a:solidFill>
                <a:schemeClr val="lt2"/>
              </a:solidFill>
            </a:endParaRPr>
          </a:p>
          <a:p>
            <a:pPr>
              <a:buFont typeface="Arial"/>
              <a:buChar char="•"/>
            </a:pPr>
            <a:r>
              <a:rPr lang="en" sz="1600" dirty="0">
                <a:solidFill>
                  <a:schemeClr val="lt2"/>
                </a:solidFill>
              </a:rPr>
              <a:t>Multiple AI models are used, including Logistic Regression, Decision Tree and Random Forest, to identify patterns and provide accurate predictions.</a:t>
            </a:r>
            <a:endParaRPr sz="1600" dirty="0">
              <a:solidFill>
                <a:schemeClr val="lt2"/>
              </a:solidFill>
            </a:endParaRPr>
          </a:p>
          <a:p>
            <a:pPr>
              <a:buFont typeface="Arial"/>
              <a:buChar char="•"/>
            </a:pPr>
            <a:r>
              <a:rPr lang="en" sz="1600" dirty="0">
                <a:solidFill>
                  <a:schemeClr val="lt2"/>
                </a:solidFill>
              </a:rPr>
              <a:t>The aim is to assist healthcare professionals with timely and informed decision-making, while demonstrating how AI can enhance diagnostic processes.</a:t>
            </a:r>
          </a:p>
          <a:p>
            <a:pPr>
              <a:buFont typeface="Arial"/>
              <a:buChar char="•"/>
            </a:pPr>
            <a:endParaRPr lang="en" sz="1600" dirty="0">
              <a:solidFill>
                <a:schemeClr val="lt2"/>
              </a:solidFill>
            </a:endParaRPr>
          </a:p>
          <a:p>
            <a:pPr marL="457200" lvl="0" indent="-317500" algn="l"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endParaRPr lang="en" dirty="0">
              <a:solidFill>
                <a:schemeClr val="l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FA9A8B-6AE2-B47E-693A-6E21B1E96468}"/>
                  </a:ext>
                </a:extLst>
              </p14:cNvPr>
              <p14:cNvContentPartPr/>
              <p14:nvPr/>
            </p14:nvContentPartPr>
            <p14:xfrm>
              <a:off x="-927099" y="2476500"/>
              <a:ext cx="12700" cy="127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FA9A8B-6AE2-B47E-693A-6E21B1E964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62099" y="1854200"/>
                <a:ext cx="1270000" cy="127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908110E9-0DB0-14B1-C5D2-958776B5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422C4933-E815-A70B-5510-6D961D08B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959" y="269924"/>
            <a:ext cx="82970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dirty="0"/>
              <a:t>Heart Disease Dataset</a:t>
            </a:r>
          </a:p>
        </p:txBody>
      </p:sp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330E6383-2196-B785-0A8A-1279E1E3C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119" y="1163258"/>
            <a:ext cx="3970036" cy="3822622"/>
          </a:xfrm>
          <a:prstGeom prst="rect">
            <a:avLst/>
          </a:prstGeom>
          <a:solidFill>
            <a:srgbClr val="07323B">
              <a:alpha val="5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dirty="0">
                <a:solidFill>
                  <a:schemeClr val="lt2"/>
                </a:solidFill>
              </a:rPr>
              <a:t>The dataset contains </a:t>
            </a:r>
            <a:r>
              <a:rPr lang="en" sz="1600" b="1" dirty="0">
                <a:solidFill>
                  <a:schemeClr val="lt2"/>
                </a:solidFill>
              </a:rPr>
              <a:t>patient medical information</a:t>
            </a:r>
            <a:r>
              <a:rPr lang="en" sz="1600" dirty="0">
                <a:solidFill>
                  <a:schemeClr val="lt2"/>
                </a:solidFill>
              </a:rPr>
              <a:t> used to analyze the likelihood of coronary artery disease.</a:t>
            </a:r>
            <a:endParaRPr lang="en-US" sz="1600" dirty="0">
              <a:solidFill>
                <a:schemeClr val="lt2"/>
              </a:solidFill>
            </a:endParaRPr>
          </a:p>
          <a:p>
            <a:r>
              <a:rPr lang="en" sz="1600" dirty="0">
                <a:solidFill>
                  <a:schemeClr val="lt2"/>
                </a:solidFill>
              </a:rPr>
              <a:t>It includes </a:t>
            </a:r>
            <a:r>
              <a:rPr lang="en" sz="1600" b="1" dirty="0">
                <a:solidFill>
                  <a:schemeClr val="lt2"/>
                </a:solidFill>
              </a:rPr>
              <a:t>1,025 records</a:t>
            </a:r>
            <a:r>
              <a:rPr lang="en" sz="1600" dirty="0">
                <a:solidFill>
                  <a:schemeClr val="lt2"/>
                </a:solidFill>
              </a:rPr>
              <a:t> and </a:t>
            </a:r>
            <a:r>
              <a:rPr lang="en" sz="1600" b="1" dirty="0">
                <a:solidFill>
                  <a:schemeClr val="lt2"/>
                </a:solidFill>
              </a:rPr>
              <a:t>14 attributes</a:t>
            </a:r>
            <a:r>
              <a:rPr lang="en" sz="1600" dirty="0">
                <a:solidFill>
                  <a:schemeClr val="lt2"/>
                </a:solidFill>
              </a:rPr>
              <a:t>, each representing a specific health indicator.</a:t>
            </a:r>
          </a:p>
          <a:p>
            <a:r>
              <a:rPr lang="en" sz="1600" dirty="0">
                <a:solidFill>
                  <a:schemeClr val="lt2"/>
                </a:solidFill>
              </a:rPr>
              <a:t>The data was </a:t>
            </a:r>
            <a:r>
              <a:rPr lang="en" sz="1600" b="1" dirty="0">
                <a:solidFill>
                  <a:schemeClr val="lt2"/>
                </a:solidFill>
              </a:rPr>
              <a:t>preprocessed and cleaned</a:t>
            </a:r>
            <a:r>
              <a:rPr lang="en" sz="1600" dirty="0">
                <a:solidFill>
                  <a:schemeClr val="lt2"/>
                </a:solidFill>
              </a:rPr>
              <a:t> before applying AI models to ensure accuracy and consistency.</a:t>
            </a:r>
            <a:endParaRPr lang="en-US" sz="1800" dirty="0">
              <a:solidFill>
                <a:schemeClr val="l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E1E747-5C48-B23D-E1EB-72F7F7995C8D}"/>
                  </a:ext>
                </a:extLst>
              </p14:cNvPr>
              <p14:cNvContentPartPr/>
              <p14:nvPr/>
            </p14:nvContentPartPr>
            <p14:xfrm>
              <a:off x="-927099" y="2476500"/>
              <a:ext cx="12700" cy="127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E1E747-5C48-B23D-E1EB-72F7F7995C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62099" y="1841500"/>
                <a:ext cx="1270000" cy="1270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Google Shape;65;p16">
            <a:extLst>
              <a:ext uri="{FF2B5EF4-FFF2-40B4-BE49-F238E27FC236}">
                <a16:creationId xmlns:a16="http://schemas.microsoft.com/office/drawing/2014/main" id="{3BBBC135-184D-F989-85A1-E790C55CEB15}"/>
              </a:ext>
            </a:extLst>
          </p:cNvPr>
          <p:cNvSpPr txBox="1">
            <a:spLocks/>
          </p:cNvSpPr>
          <p:nvPr/>
        </p:nvSpPr>
        <p:spPr>
          <a:xfrm>
            <a:off x="4674935" y="1164696"/>
            <a:ext cx="3970036" cy="3811839"/>
          </a:xfrm>
          <a:prstGeom prst="rect">
            <a:avLst/>
          </a:prstGeom>
          <a:solidFill>
            <a:srgbClr val="07323B">
              <a:alpha val="57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 b="0" i="0" u="none" strike="noStrike" cap="none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425450" indent="-285750"/>
            <a:r>
              <a:rPr lang="en-US" sz="1600" dirty="0">
                <a:solidFill>
                  <a:schemeClr val="lt2"/>
                </a:solidFill>
              </a:rPr>
              <a:t>Common attributes include:</a:t>
            </a:r>
          </a:p>
          <a:p>
            <a:pPr lvl="1"/>
            <a:r>
              <a:rPr lang="en-US" sz="1600" b="1" dirty="0"/>
              <a:t>Age</a:t>
            </a:r>
            <a:r>
              <a:rPr lang="en-US" sz="1600" dirty="0"/>
              <a:t> — patient’s age</a:t>
            </a:r>
          </a:p>
          <a:p>
            <a:pPr lvl="1"/>
            <a:r>
              <a:rPr lang="en-US" sz="1600" b="1" dirty="0"/>
              <a:t>Gender</a:t>
            </a:r>
            <a:r>
              <a:rPr lang="en-US" sz="1600" dirty="0"/>
              <a:t> — male or female</a:t>
            </a:r>
          </a:p>
          <a:p>
            <a:pPr lvl="1"/>
            <a:r>
              <a:rPr lang="en-US" sz="1600" b="1" dirty="0"/>
              <a:t>Chest Pain Type (cp)</a:t>
            </a:r>
            <a:endParaRPr lang="en-US" sz="1600" dirty="0"/>
          </a:p>
          <a:p>
            <a:pPr lvl="1"/>
            <a:r>
              <a:rPr lang="en-US" sz="1600" b="1" dirty="0"/>
              <a:t>Resting Blood Pressure (</a:t>
            </a:r>
            <a:r>
              <a:rPr lang="en-US" sz="1600" b="1" dirty="0" err="1"/>
              <a:t>trestbps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Cholesterol Level (</a:t>
            </a:r>
            <a:r>
              <a:rPr lang="en-US" sz="1600" b="1" dirty="0" err="1"/>
              <a:t>chol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Fasting Blood Sugar (</a:t>
            </a:r>
            <a:r>
              <a:rPr lang="en-US" sz="1600" b="1" dirty="0" err="1"/>
              <a:t>fbs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Resting ECG Results (</a:t>
            </a:r>
            <a:r>
              <a:rPr lang="en-US" sz="1600" b="1" dirty="0" err="1"/>
              <a:t>restecg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Maximum Heart Rate (</a:t>
            </a:r>
            <a:r>
              <a:rPr lang="en-US" sz="1600" b="1" dirty="0" err="1"/>
              <a:t>thalach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Exercise-Induced Angina (</a:t>
            </a:r>
            <a:r>
              <a:rPr lang="en-US" sz="1600" b="1" dirty="0" err="1"/>
              <a:t>exang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ST Depression (</a:t>
            </a:r>
            <a:r>
              <a:rPr lang="en-US" sz="1600" b="1" dirty="0" err="1"/>
              <a:t>oldpeak</a:t>
            </a:r>
            <a:r>
              <a:rPr lang="en-US" sz="1600" b="1" dirty="0"/>
              <a:t>)</a:t>
            </a:r>
            <a:endParaRPr lang="en-US" sz="1600" dirty="0"/>
          </a:p>
          <a:p>
            <a:pPr lvl="1"/>
            <a:r>
              <a:rPr lang="en-US" sz="1600" b="1" dirty="0"/>
              <a:t>Slope, CA, Thal</a:t>
            </a:r>
            <a:r>
              <a:rPr lang="en-US" sz="1600" dirty="0"/>
              <a:t> — additional heart function parameters</a:t>
            </a:r>
          </a:p>
          <a:p>
            <a:pPr lvl="1"/>
            <a:r>
              <a:rPr lang="en-US" sz="1600" b="1" dirty="0"/>
              <a:t>Target</a:t>
            </a:r>
            <a:r>
              <a:rPr lang="en-US" sz="1600" dirty="0"/>
              <a:t> — indicates presence (1) or absence (0) of heart disease</a:t>
            </a:r>
          </a:p>
        </p:txBody>
      </p:sp>
    </p:spTree>
    <p:extLst>
      <p:ext uri="{BB962C8B-B14F-4D97-AF65-F5344CB8AC3E}">
        <p14:creationId xmlns:p14="http://schemas.microsoft.com/office/powerpoint/2010/main" val="66128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3B1FA73F-ECB8-971E-ADFC-730F3EA7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455E92F1-C730-125C-245B-971D211A8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7506" y="709348"/>
            <a:ext cx="8201178" cy="4420457"/>
          </a:xfrm>
          <a:prstGeom prst="rect">
            <a:avLst/>
          </a:prstGeom>
          <a:solidFill>
            <a:srgbClr val="07323B">
              <a:alpha val="5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 dirty="0">
                <a:solidFill>
                  <a:schemeClr val="lt2"/>
                </a:solidFill>
              </a:rPr>
              <a:t>Data Collection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The dataset was collected from reliable medical sources containing patient health records.</a:t>
            </a:r>
            <a:endParaRPr lang="en-US" dirty="0"/>
          </a:p>
          <a:p>
            <a:r>
              <a:rPr lang="en" sz="1600" b="1" dirty="0">
                <a:solidFill>
                  <a:schemeClr val="lt2"/>
                </a:solidFill>
              </a:rPr>
              <a:t>Data Preprocessing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Handled missing values,  duplicates, and scaled numeric features for consistency.</a:t>
            </a:r>
            <a:endParaRPr lang="en" dirty="0"/>
          </a:p>
          <a:p>
            <a:r>
              <a:rPr lang="en" sz="1600" b="1" dirty="0">
                <a:solidFill>
                  <a:schemeClr val="lt2"/>
                </a:solidFill>
              </a:rPr>
              <a:t>Feature Selection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Selected the most relevant medical attributes influencing heart disease prediction.</a:t>
            </a:r>
            <a:endParaRPr lang="en" dirty="0"/>
          </a:p>
          <a:p>
            <a:r>
              <a:rPr lang="en" sz="1600" b="1" dirty="0">
                <a:solidFill>
                  <a:schemeClr val="lt2"/>
                </a:solidFill>
              </a:rPr>
              <a:t>Model Training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Machine learning algorithms were applied to train the model on the preprocessed data.</a:t>
            </a:r>
            <a:endParaRPr dirty="0"/>
          </a:p>
          <a:p>
            <a:r>
              <a:rPr lang="en" sz="1600" b="1" dirty="0">
                <a:solidFill>
                  <a:schemeClr val="lt2"/>
                </a:solidFill>
              </a:rPr>
              <a:t>Prediction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The trained model predicts whether a patient is likely to have </a:t>
            </a:r>
            <a:r>
              <a:rPr lang="en" sz="1600" b="1" dirty="0"/>
              <a:t>coronary artery disease</a:t>
            </a:r>
            <a:r>
              <a:rPr lang="en" sz="1600" dirty="0"/>
              <a:t> based on their medical input.</a:t>
            </a:r>
            <a:endParaRPr lang="en" dirty="0"/>
          </a:p>
          <a:p>
            <a:r>
              <a:rPr lang="en" sz="1600" b="1" dirty="0">
                <a:solidFill>
                  <a:schemeClr val="lt2"/>
                </a:solidFill>
              </a:rPr>
              <a:t>Evaluation</a:t>
            </a:r>
            <a:endParaRPr lang="en" dirty="0">
              <a:solidFill>
                <a:schemeClr val="lt2"/>
              </a:solidFill>
            </a:endParaRPr>
          </a:p>
          <a:p>
            <a:pPr lvl="1"/>
            <a:r>
              <a:rPr lang="en" sz="1600" dirty="0"/>
              <a:t>The model’s performance was evaluated using accuracy, precision, recall, and F1-score metrics.</a:t>
            </a:r>
            <a:endParaRPr lang="en" dirty="0"/>
          </a:p>
          <a:p>
            <a:endParaRPr lang="en" sz="1600" dirty="0">
              <a:solidFill>
                <a:schemeClr val="lt2"/>
              </a:solidFill>
            </a:endParaRPr>
          </a:p>
          <a:p>
            <a:endParaRPr lang="en" sz="1600" dirty="0">
              <a:solidFill>
                <a:schemeClr val="lt2"/>
              </a:solidFill>
            </a:endParaRPr>
          </a:p>
          <a:p>
            <a:pPr marL="457200" lvl="0" indent="-317500" algn="l">
              <a:spcAft>
                <a:spcPts val="0"/>
              </a:spcAft>
              <a:buClr>
                <a:schemeClr val="lt2"/>
              </a:buClr>
              <a:buSzPts val="1400"/>
            </a:pPr>
            <a:endParaRPr lang="en" dirty="0">
              <a:solidFill>
                <a:schemeClr val="l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B28A49-9933-E64F-DB97-B925217ADAC2}"/>
                  </a:ext>
                </a:extLst>
              </p14:cNvPr>
              <p14:cNvContentPartPr/>
              <p14:nvPr/>
            </p14:nvContentPartPr>
            <p14:xfrm>
              <a:off x="-927099" y="2476500"/>
              <a:ext cx="12700" cy="127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B28A49-9933-E64F-DB97-B925217ADA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62099" y="1841500"/>
                <a:ext cx="1270000" cy="127000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DBC54EE3-D37D-5C15-6B7A-C4C6FAB7F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959" y="151312"/>
            <a:ext cx="82970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dirty="0"/>
              <a:t>System Workflow</a:t>
            </a:r>
          </a:p>
        </p:txBody>
      </p:sp>
    </p:spTree>
    <p:extLst>
      <p:ext uri="{BB962C8B-B14F-4D97-AF65-F5344CB8AC3E}">
        <p14:creationId xmlns:p14="http://schemas.microsoft.com/office/powerpoint/2010/main" val="84788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61D81B-1CA6-BA6B-366D-84C5D233D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912" y="1109343"/>
            <a:ext cx="7916620" cy="3499132"/>
          </a:xfrm>
        </p:spPr>
        <p:txBody>
          <a:bodyPr/>
          <a:lstStyle/>
          <a:p>
            <a:pPr marL="139700" indent="0">
              <a:buNone/>
            </a:pPr>
            <a:endParaRPr lang="en-US" sz="1800" b="1" dirty="0"/>
          </a:p>
          <a:p>
            <a:pPr marL="139700" indent="0">
              <a:buNone/>
            </a:pPr>
            <a:r>
              <a:rPr lang="en-US" sz="1800" b="1" dirty="0"/>
              <a:t>Logistic Regression</a:t>
            </a:r>
            <a:endParaRPr lang="en-US" sz="1800" dirty="0"/>
          </a:p>
          <a:p>
            <a:pPr lvl="1"/>
            <a:r>
              <a:rPr lang="en-US" sz="1800" dirty="0"/>
              <a:t>A simple yet effective algorithm for binary classification.</a:t>
            </a:r>
          </a:p>
          <a:p>
            <a:pPr lvl="1"/>
            <a:r>
              <a:rPr lang="en-US" sz="1800" dirty="0"/>
              <a:t>Captures linear relationships between patient features and heart disease.</a:t>
            </a:r>
          </a:p>
          <a:p>
            <a:pPr marL="139700" indent="0">
              <a:buNone/>
            </a:pPr>
            <a:r>
              <a:rPr lang="en-US" sz="1800" b="1" dirty="0"/>
              <a:t>Decision Tree Classifier</a:t>
            </a:r>
            <a:endParaRPr lang="en-US" sz="1800" dirty="0"/>
          </a:p>
          <a:p>
            <a:pPr lvl="1"/>
            <a:r>
              <a:rPr lang="en-US" sz="1800" dirty="0"/>
              <a:t>Splits data into branches based on key medical conditions.</a:t>
            </a:r>
          </a:p>
          <a:p>
            <a:pPr lvl="1"/>
            <a:r>
              <a:rPr lang="en-US" sz="1800" dirty="0"/>
              <a:t>Easy to interpret and visualize the decision-making process.</a:t>
            </a:r>
          </a:p>
          <a:p>
            <a:pPr marL="139700" indent="0">
              <a:buNone/>
            </a:pPr>
            <a:r>
              <a:rPr lang="en-US" sz="1800" b="1" dirty="0"/>
              <a:t>Random Forest Classifier</a:t>
            </a:r>
            <a:endParaRPr lang="en-US" sz="1800" dirty="0"/>
          </a:p>
          <a:p>
            <a:pPr lvl="1"/>
            <a:r>
              <a:rPr lang="en-US" sz="1800" dirty="0"/>
              <a:t>An ensemble of multiple decision trees for higher accuracy and stability.</a:t>
            </a:r>
          </a:p>
          <a:p>
            <a:pPr lvl="1"/>
            <a:r>
              <a:rPr lang="en-US" sz="1800" dirty="0"/>
              <a:t>Reduces overfitting and improves overall prediction performance.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7534B-2AC1-3C02-73DD-6E3848FF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 In AI Medical Diagnosis System</a:t>
            </a:r>
          </a:p>
        </p:txBody>
      </p:sp>
    </p:spTree>
    <p:extLst>
      <p:ext uri="{BB962C8B-B14F-4D97-AF65-F5344CB8AC3E}">
        <p14:creationId xmlns:p14="http://schemas.microsoft.com/office/powerpoint/2010/main" val="1260148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RESULT AND COMPARISON</a:t>
            </a:r>
            <a:endParaRPr dirty="0"/>
          </a:p>
        </p:txBody>
      </p:sp>
      <p:sp>
        <p:nvSpPr>
          <p:cNvPr id="92" name="Google Shape;92;p18"/>
          <p:cNvSpPr txBox="1"/>
          <p:nvPr/>
        </p:nvSpPr>
        <p:spPr>
          <a:xfrm>
            <a:off x="3402450" y="1178275"/>
            <a:ext cx="233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OUR EVOLUTION</a:t>
            </a:r>
            <a:endParaRPr sz="2400" b="1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2384935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4530770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6721755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" name="Google Shape;97;p18"/>
          <p:cNvCxnSpPr>
            <a:stCxn id="93" idx="6"/>
            <a:endCxn id="94" idx="2"/>
          </p:cNvCxnSpPr>
          <p:nvPr/>
        </p:nvCxnSpPr>
        <p:spPr>
          <a:xfrm>
            <a:off x="2511835" y="2628147"/>
            <a:ext cx="2018935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8"/>
          <p:cNvCxnSpPr>
            <a:stCxn id="94" idx="6"/>
            <a:endCxn id="95" idx="2"/>
          </p:cNvCxnSpPr>
          <p:nvPr/>
        </p:nvCxnSpPr>
        <p:spPr>
          <a:xfrm>
            <a:off x="4657670" y="2628147"/>
            <a:ext cx="2064085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8"/>
          <p:cNvCxnSpPr>
            <a:cxnSpLocks/>
            <a:stCxn id="93" idx="4"/>
          </p:cNvCxnSpPr>
          <p:nvPr/>
        </p:nvCxnSpPr>
        <p:spPr>
          <a:xfrm>
            <a:off x="2448385" y="2691597"/>
            <a:ext cx="0" cy="36769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8"/>
          <p:cNvCxnSpPr>
            <a:cxnSpLocks/>
            <a:stCxn id="94" idx="4"/>
            <a:endCxn id="103" idx="0"/>
          </p:cNvCxnSpPr>
          <p:nvPr/>
        </p:nvCxnSpPr>
        <p:spPr>
          <a:xfrm flipH="1">
            <a:off x="4594207" y="2691597"/>
            <a:ext cx="13" cy="32382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8"/>
          <p:cNvCxnSpPr>
            <a:cxnSpLocks/>
            <a:stCxn id="95" idx="4"/>
          </p:cNvCxnSpPr>
          <p:nvPr/>
        </p:nvCxnSpPr>
        <p:spPr>
          <a:xfrm>
            <a:off x="6785205" y="2691597"/>
            <a:ext cx="0" cy="37898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18"/>
          <p:cNvGrpSpPr/>
          <p:nvPr/>
        </p:nvGrpSpPr>
        <p:grpSpPr>
          <a:xfrm>
            <a:off x="1540689" y="1790299"/>
            <a:ext cx="1883100" cy="2086651"/>
            <a:chOff x="716600" y="1790299"/>
            <a:chExt cx="1883100" cy="2086651"/>
          </a:xfrm>
        </p:grpSpPr>
        <p:sp>
          <p:nvSpPr>
            <p:cNvPr id="101" name="Google Shape;101;p18"/>
            <p:cNvSpPr txBox="1"/>
            <p:nvPr/>
          </p:nvSpPr>
          <p:spPr>
            <a:xfrm>
              <a:off x="716600" y="3015422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0.810%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716600" y="3328250"/>
              <a:ext cx="1883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lt2"/>
                  </a:solidFill>
                  <a:latin typeface="Fira Sans Condensed"/>
                  <a:sym typeface="Fira Sans Condensed"/>
                </a:rPr>
                <a:t>A simple yet effective algorithm for binary classification.</a:t>
              </a:r>
              <a:endParaRPr lang="en-US" dirty="0">
                <a:solidFill>
                  <a:schemeClr val="lt2"/>
                </a:solidFill>
              </a:endParaRPr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716600" y="1790299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algn="ctr"/>
              <a:r>
                <a:rPr lang="en"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</a:rPr>
                <a:t>Logistic Regression</a:t>
              </a:r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3652657" y="1790299"/>
            <a:ext cx="1883100" cy="2086651"/>
            <a:chOff x="2659233" y="1790299"/>
            <a:chExt cx="1883100" cy="2086651"/>
          </a:xfrm>
        </p:grpSpPr>
        <p:sp>
          <p:nvSpPr>
            <p:cNvPr id="103" name="Google Shape;103;p18"/>
            <p:cNvSpPr txBox="1"/>
            <p:nvPr/>
          </p:nvSpPr>
          <p:spPr>
            <a:xfrm>
              <a:off x="2659233" y="3015422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0.873%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2659233" y="3328250"/>
              <a:ext cx="1883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lt2"/>
                  </a:solidFill>
                  <a:latin typeface="Fira Sans Condensed"/>
                  <a:sym typeface="Fira Sans Condensed"/>
                </a:rPr>
                <a:t>Splits data into branches based on key medical conditions</a:t>
              </a:r>
              <a:endParaRPr lang="en-US" dirty="0">
                <a:solidFill>
                  <a:schemeClr val="lt2"/>
                </a:solidFill>
              </a:endParaRPr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2659233" y="1790299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algn="ctr"/>
              <a:r>
                <a:rPr lang="en"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Decision Tree</a:t>
              </a:r>
              <a:endParaRPr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5821071" y="1790299"/>
            <a:ext cx="1883100" cy="2086651"/>
            <a:chOff x="4601867" y="1790299"/>
            <a:chExt cx="1883100" cy="2086651"/>
          </a:xfrm>
        </p:grpSpPr>
        <p:sp>
          <p:nvSpPr>
            <p:cNvPr id="105" name="Google Shape;105;p18"/>
            <p:cNvSpPr txBox="1"/>
            <p:nvPr/>
          </p:nvSpPr>
          <p:spPr>
            <a:xfrm>
              <a:off x="4601867" y="3015422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0.927%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4601867" y="3328250"/>
              <a:ext cx="1883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lt2"/>
                  </a:solidFill>
                  <a:latin typeface="Fira Sans Condensed"/>
                  <a:sym typeface="Fira Sans Condensed"/>
                </a:rPr>
                <a:t>An ensemble of multiple decision trees for higher accuracy and stability.</a:t>
              </a:r>
              <a:endParaRPr lang="en-US" dirty="0">
                <a:solidFill>
                  <a:schemeClr val="lt2"/>
                </a:solidFill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4601867" y="1790299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algn="ctr"/>
              <a:r>
                <a:rPr lang="en"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Random Forest</a:t>
              </a:r>
              <a:endParaRPr sz="2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cxnSp>
        <p:nvCxnSpPr>
          <p:cNvPr id="132" name="Google Shape;132;p18"/>
          <p:cNvCxnSpPr>
            <a:cxnSpLocks/>
            <a:stCxn id="93" idx="0"/>
          </p:cNvCxnSpPr>
          <p:nvPr/>
        </p:nvCxnSpPr>
        <p:spPr>
          <a:xfrm flipV="1">
            <a:off x="2448385" y="2133600"/>
            <a:ext cx="0" cy="43109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8"/>
          <p:cNvCxnSpPr>
            <a:cxnSpLocks/>
            <a:stCxn id="94" idx="0"/>
          </p:cNvCxnSpPr>
          <p:nvPr/>
        </p:nvCxnSpPr>
        <p:spPr>
          <a:xfrm flipV="1">
            <a:off x="4594220" y="2133600"/>
            <a:ext cx="0" cy="43109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8"/>
          <p:cNvCxnSpPr>
            <a:cxnSpLocks/>
            <a:stCxn id="95" idx="0"/>
          </p:cNvCxnSpPr>
          <p:nvPr/>
        </p:nvCxnSpPr>
        <p:spPr>
          <a:xfrm flipV="1">
            <a:off x="6785205" y="2133600"/>
            <a:ext cx="0" cy="43109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1FDF5F5A-9D0D-64EB-652A-02EDDA3F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411" y="1418700"/>
            <a:ext cx="7264929" cy="2306100"/>
          </a:xfrm>
        </p:spPr>
        <p:txBody>
          <a:bodyPr/>
          <a:lstStyle/>
          <a:p>
            <a:r>
              <a:rPr lang="en-US" sz="5400" dirty="0"/>
              <a:t>Best Model:</a:t>
            </a:r>
            <a:br>
              <a:rPr lang="en-US" sz="5400" dirty="0"/>
            </a:br>
            <a:r>
              <a:rPr lang="en-US" sz="5400" dirty="0"/>
              <a:t> Random Forest with 92% accuracy</a:t>
            </a:r>
          </a:p>
        </p:txBody>
      </p:sp>
    </p:spTree>
    <p:extLst>
      <p:ext uri="{BB962C8B-B14F-4D97-AF65-F5344CB8AC3E}">
        <p14:creationId xmlns:p14="http://schemas.microsoft.com/office/powerpoint/2010/main" val="270942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FEEB-D8D1-B42E-D493-7E5B2457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00" y="2027557"/>
            <a:ext cx="7704000" cy="1090284"/>
          </a:xfrm>
        </p:spPr>
        <p:txBody>
          <a:bodyPr/>
          <a:lstStyle/>
          <a:p>
            <a:r>
              <a:rPr lang="en-US" sz="4800" dirty="0"/>
              <a:t>Code Explanation</a:t>
            </a:r>
          </a:p>
        </p:txBody>
      </p:sp>
    </p:spTree>
    <p:extLst>
      <p:ext uri="{BB962C8B-B14F-4D97-AF65-F5344CB8AC3E}">
        <p14:creationId xmlns:p14="http://schemas.microsoft.com/office/powerpoint/2010/main" val="1584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E7E9E963-7AC6-3091-ACA1-5D0DBC35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E75AB648-D718-DFA7-A6B7-76BF20D40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959" y="539500"/>
            <a:ext cx="82970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dirty="0"/>
              <a:t>Future Work</a:t>
            </a:r>
          </a:p>
        </p:txBody>
      </p:sp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CBAD5FE5-90A1-42F6-323F-A8D516D46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5100" y="1454399"/>
            <a:ext cx="6913800" cy="3154076"/>
          </a:xfrm>
          <a:prstGeom prst="rect">
            <a:avLst/>
          </a:prstGeom>
          <a:solidFill>
            <a:srgbClr val="07323B">
              <a:alpha val="5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dirty="0">
                <a:solidFill>
                  <a:schemeClr val="lt2"/>
                </a:solidFill>
              </a:rPr>
              <a:t>Integrate </a:t>
            </a:r>
            <a:r>
              <a:rPr lang="en" sz="1800" b="1" dirty="0">
                <a:solidFill>
                  <a:schemeClr val="lt2"/>
                </a:solidFill>
              </a:rPr>
              <a:t>deep learning models</a:t>
            </a:r>
            <a:r>
              <a:rPr lang="en" sz="1800" dirty="0">
                <a:solidFill>
                  <a:schemeClr val="lt2"/>
                </a:solidFill>
              </a:rPr>
              <a:t> (e.g., Neural Networks) to improve prediction accuracy.</a:t>
            </a:r>
            <a:endParaRPr lang="en-US" sz="1800" dirty="0">
              <a:solidFill>
                <a:schemeClr val="lt2"/>
              </a:solidFill>
            </a:endParaRPr>
          </a:p>
          <a:p>
            <a:r>
              <a:rPr lang="en" sz="1800" dirty="0">
                <a:solidFill>
                  <a:schemeClr val="lt2"/>
                </a:solidFill>
              </a:rPr>
              <a:t>Apply </a:t>
            </a:r>
            <a:r>
              <a:rPr lang="en" sz="1800" b="1" dirty="0">
                <a:solidFill>
                  <a:schemeClr val="lt2"/>
                </a:solidFill>
              </a:rPr>
              <a:t>feature selection</a:t>
            </a:r>
            <a:r>
              <a:rPr lang="en" sz="1800" dirty="0">
                <a:solidFill>
                  <a:schemeClr val="lt2"/>
                </a:solidFill>
              </a:rPr>
              <a:t> to identify the most significant medical factors.</a:t>
            </a:r>
          </a:p>
          <a:p>
            <a:r>
              <a:rPr lang="en" sz="1800" dirty="0">
                <a:solidFill>
                  <a:schemeClr val="lt2"/>
                </a:solidFill>
              </a:rPr>
              <a:t>Experiment with </a:t>
            </a:r>
            <a:r>
              <a:rPr lang="en" sz="1800" b="1" dirty="0">
                <a:solidFill>
                  <a:schemeClr val="lt2"/>
                </a:solidFill>
              </a:rPr>
              <a:t>larger and more diverse datasets</a:t>
            </a:r>
            <a:r>
              <a:rPr lang="en" sz="1800" dirty="0">
                <a:solidFill>
                  <a:schemeClr val="lt2"/>
                </a:solidFill>
              </a:rPr>
              <a:t> for better generalization.</a:t>
            </a:r>
          </a:p>
          <a:p>
            <a:r>
              <a:rPr lang="en" sz="1800" dirty="0">
                <a:solidFill>
                  <a:schemeClr val="lt2"/>
                </a:solidFill>
              </a:rPr>
              <a:t>Enhance the system with </a:t>
            </a:r>
            <a:r>
              <a:rPr lang="en" sz="1800" b="1" dirty="0">
                <a:solidFill>
                  <a:schemeClr val="lt2"/>
                </a:solidFill>
              </a:rPr>
              <a:t>real-time prediction capabilities</a:t>
            </a:r>
            <a:r>
              <a:rPr lang="en" sz="1800" dirty="0">
                <a:solidFill>
                  <a:schemeClr val="lt2"/>
                </a:solidFill>
              </a:rPr>
              <a:t> using web or mobile integration.</a:t>
            </a:r>
          </a:p>
          <a:p>
            <a:r>
              <a:rPr lang="en" sz="1800" dirty="0">
                <a:solidFill>
                  <a:schemeClr val="lt2"/>
                </a:solidFill>
              </a:rPr>
              <a:t>Implement a </a:t>
            </a:r>
            <a:r>
              <a:rPr lang="en" sz="1800" b="1" dirty="0">
                <a:solidFill>
                  <a:schemeClr val="lt2"/>
                </a:solidFill>
              </a:rPr>
              <a:t>user-friendly interface</a:t>
            </a:r>
            <a:r>
              <a:rPr lang="en" sz="1800" dirty="0">
                <a:solidFill>
                  <a:schemeClr val="lt2"/>
                </a:solidFill>
              </a:rPr>
              <a:t> for doctors and patients to easily access results.</a:t>
            </a:r>
          </a:p>
          <a:p>
            <a:pPr>
              <a:buFont typeface="Arial"/>
              <a:buChar char="•"/>
            </a:pPr>
            <a:endParaRPr lang="en" sz="1600" dirty="0">
              <a:solidFill>
                <a:schemeClr val="lt2"/>
              </a:solidFill>
            </a:endParaRPr>
          </a:p>
          <a:p>
            <a:pPr>
              <a:buFont typeface="Arial"/>
              <a:buChar char="•"/>
            </a:pPr>
            <a:endParaRPr lang="en" sz="1600" dirty="0">
              <a:solidFill>
                <a:schemeClr val="lt2"/>
              </a:solidFill>
            </a:endParaRPr>
          </a:p>
          <a:p>
            <a:pPr>
              <a:buClr>
                <a:srgbClr val="F3F3F3"/>
              </a:buClr>
              <a:buFont typeface="Arial"/>
              <a:buChar char="•"/>
            </a:pPr>
            <a:endParaRPr lang="en" dirty="0">
              <a:solidFill>
                <a:schemeClr val="l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24C929-C41B-722F-9800-0D98AA93F1F9}"/>
                  </a:ext>
                </a:extLst>
              </p14:cNvPr>
              <p14:cNvContentPartPr/>
              <p14:nvPr/>
            </p14:nvContentPartPr>
            <p14:xfrm>
              <a:off x="-927099" y="2476500"/>
              <a:ext cx="12700" cy="127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24C929-C41B-722F-9800-0D98AA93F1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62099" y="1841500"/>
                <a:ext cx="1270000" cy="12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318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9C8E9E53-B21C-2D09-6C11-C8A2CDF1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29DB1C30-55BE-F7F9-E2F8-E95D38D8B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959" y="539500"/>
            <a:ext cx="82970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dirty="0"/>
              <a:t>Conclusion</a:t>
            </a:r>
          </a:p>
        </p:txBody>
      </p:sp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786306B6-E792-E799-1DC0-5DA1A95FB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5100" y="1454399"/>
            <a:ext cx="6913800" cy="3154076"/>
          </a:xfrm>
          <a:prstGeom prst="rect">
            <a:avLst/>
          </a:prstGeom>
          <a:solidFill>
            <a:srgbClr val="07323B">
              <a:alpha val="5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dirty="0">
                <a:solidFill>
                  <a:schemeClr val="lt2"/>
                </a:solidFill>
              </a:rPr>
              <a:t>The project demonstrates the use of </a:t>
            </a:r>
            <a:r>
              <a:rPr lang="en" sz="1800" b="1" dirty="0">
                <a:solidFill>
                  <a:schemeClr val="lt2"/>
                </a:solidFill>
              </a:rPr>
              <a:t>AI and machine learning</a:t>
            </a:r>
            <a:r>
              <a:rPr lang="en" sz="1800" dirty="0">
                <a:solidFill>
                  <a:schemeClr val="lt2"/>
                </a:solidFill>
              </a:rPr>
              <a:t> for predicting </a:t>
            </a:r>
            <a:r>
              <a:rPr lang="en" sz="1800" b="1" dirty="0">
                <a:solidFill>
                  <a:schemeClr val="lt2"/>
                </a:solidFill>
              </a:rPr>
              <a:t>coronary artery disease</a:t>
            </a:r>
            <a:r>
              <a:rPr lang="en" sz="1800" dirty="0">
                <a:solidFill>
                  <a:schemeClr val="lt2"/>
                </a:solidFill>
              </a:rPr>
              <a:t>.</a:t>
            </a:r>
            <a:endParaRPr lang="en-US" sz="1800" dirty="0">
              <a:solidFill>
                <a:schemeClr val="lt2"/>
              </a:solidFill>
            </a:endParaRPr>
          </a:p>
          <a:p>
            <a:r>
              <a:rPr lang="en" sz="1800" dirty="0">
                <a:solidFill>
                  <a:schemeClr val="lt2"/>
                </a:solidFill>
              </a:rPr>
              <a:t>Four models were applied: </a:t>
            </a:r>
            <a:r>
              <a:rPr lang="en" sz="1800" b="1" dirty="0">
                <a:solidFill>
                  <a:schemeClr val="lt2"/>
                </a:solidFill>
              </a:rPr>
              <a:t>Logistic Regression, Decision Tree and Random Forest. Random Forest </a:t>
            </a:r>
            <a:r>
              <a:rPr lang="en" sz="1800" dirty="0">
                <a:solidFill>
                  <a:schemeClr val="lt2"/>
                </a:solidFill>
              </a:rPr>
              <a:t>achieved the highest predictive performance.</a:t>
            </a:r>
            <a:endParaRPr sz="1800" dirty="0">
              <a:solidFill>
                <a:schemeClr val="lt2"/>
              </a:solidFill>
            </a:endParaRPr>
          </a:p>
          <a:p>
            <a:r>
              <a:rPr lang="en" sz="1800" dirty="0">
                <a:solidFill>
                  <a:schemeClr val="lt2"/>
                </a:solidFill>
              </a:rPr>
              <a:t>The study highlights how </a:t>
            </a:r>
            <a:r>
              <a:rPr lang="en" sz="1800" b="1" dirty="0">
                <a:solidFill>
                  <a:schemeClr val="lt2"/>
                </a:solidFill>
              </a:rPr>
              <a:t>data-driven approaches</a:t>
            </a:r>
            <a:r>
              <a:rPr lang="en" sz="1800" dirty="0">
                <a:solidFill>
                  <a:schemeClr val="lt2"/>
                </a:solidFill>
              </a:rPr>
              <a:t> can assist medical professionals in early diagnosis.</a:t>
            </a:r>
          </a:p>
          <a:p>
            <a:r>
              <a:rPr lang="en" sz="1800" dirty="0">
                <a:solidFill>
                  <a:schemeClr val="lt2"/>
                </a:solidFill>
              </a:rPr>
              <a:t>Future improvements could include </a:t>
            </a:r>
            <a:r>
              <a:rPr lang="en" sz="1800" b="1" dirty="0">
                <a:solidFill>
                  <a:schemeClr val="lt2"/>
                </a:solidFill>
              </a:rPr>
              <a:t>larger datasets, additional features</a:t>
            </a:r>
            <a:r>
              <a:rPr lang="en" sz="1800" dirty="0">
                <a:solidFill>
                  <a:schemeClr val="lt2"/>
                </a:solidFill>
              </a:rPr>
              <a:t>, and </a:t>
            </a:r>
            <a:r>
              <a:rPr lang="en" sz="1800" b="1" dirty="0">
                <a:solidFill>
                  <a:schemeClr val="lt2"/>
                </a:solidFill>
              </a:rPr>
              <a:t>hybrid modeling approaches</a:t>
            </a:r>
            <a:r>
              <a:rPr lang="en" sz="1800" dirty="0">
                <a:solidFill>
                  <a:schemeClr val="lt2"/>
                </a:solidFill>
              </a:rPr>
              <a:t> for even better accuracy.</a:t>
            </a:r>
          </a:p>
          <a:p>
            <a:pPr>
              <a:buFont typeface="Arial"/>
              <a:buChar char="•"/>
            </a:pPr>
            <a:endParaRPr lang="en" sz="1600" dirty="0">
              <a:solidFill>
                <a:schemeClr val="lt2"/>
              </a:solidFill>
            </a:endParaRPr>
          </a:p>
          <a:p>
            <a:pPr>
              <a:buFont typeface="Arial"/>
              <a:buChar char="•"/>
            </a:pPr>
            <a:endParaRPr lang="en" sz="1600" dirty="0">
              <a:solidFill>
                <a:schemeClr val="lt2"/>
              </a:solidFill>
            </a:endParaRPr>
          </a:p>
          <a:p>
            <a:pPr marL="457200" lvl="0" indent="-317500" algn="l"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endParaRPr lang="en" dirty="0">
              <a:solidFill>
                <a:schemeClr val="l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853C4F-3AEE-F8A7-072B-F5C71A1A897C}"/>
                  </a:ext>
                </a:extLst>
              </p14:cNvPr>
              <p14:cNvContentPartPr/>
              <p14:nvPr/>
            </p14:nvContentPartPr>
            <p14:xfrm>
              <a:off x="-927099" y="2476500"/>
              <a:ext cx="12700" cy="127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853C4F-3AEE-F8A7-072B-F5C71A1A89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562099" y="1841500"/>
                <a:ext cx="1270000" cy="12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234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1CE5F-CF2E-7FA3-3FD5-80C86C04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4503-C680-A5ED-10E1-A97E2652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00" y="1887378"/>
            <a:ext cx="7704000" cy="1090284"/>
          </a:xfrm>
        </p:spPr>
        <p:txBody>
          <a:bodyPr/>
          <a:lstStyle/>
          <a:p>
            <a:r>
              <a:rPr lang="en-US" sz="5400" dirty="0"/>
              <a:t>Thank You For Listening</a:t>
            </a:r>
            <a:br>
              <a:rPr lang="en-US" sz="4800" dirty="0"/>
            </a:br>
            <a:r>
              <a:rPr lang="en-US" sz="4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25451300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674</Words>
  <Application>Microsoft Office PowerPoint</Application>
  <PresentationFormat>On-screen Show (16:9)</PresentationFormat>
  <Paragraphs>92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Proxima Nova</vt:lpstr>
      <vt:lpstr>Roboto Condensed Light</vt:lpstr>
      <vt:lpstr>Arial</vt:lpstr>
      <vt:lpstr>Proxima Nova Semibold</vt:lpstr>
      <vt:lpstr>Anaheim</vt:lpstr>
      <vt:lpstr>Rajdhani</vt:lpstr>
      <vt:lpstr>Fira Sans Condensed</vt:lpstr>
      <vt:lpstr>Fira Sans Condensed Light</vt:lpstr>
      <vt:lpstr>AI Tech Agency Infographics by Slidesgo</vt:lpstr>
      <vt:lpstr>Slidesgo Final Pages</vt:lpstr>
      <vt:lpstr>AI Medical Diagnosis System</vt:lpstr>
      <vt:lpstr>TABLE OF CONTENTS</vt:lpstr>
      <vt:lpstr>Coronary Artery Disease Prediction Using AI</vt:lpstr>
      <vt:lpstr>Heart Disease Dataset</vt:lpstr>
      <vt:lpstr>System Workflow</vt:lpstr>
      <vt:lpstr>Models Used In AI Medical Diagnosis System</vt:lpstr>
      <vt:lpstr>RESULT AND COMPARISON</vt:lpstr>
      <vt:lpstr>Best Model:  Random Forest with 92% accuracy</vt:lpstr>
      <vt:lpstr>Code Explanation</vt:lpstr>
      <vt:lpstr>Future Work</vt:lpstr>
      <vt:lpstr>Conclusion</vt:lpstr>
      <vt:lpstr>Thank You For Listening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dell</cp:lastModifiedBy>
  <cp:revision>576</cp:revision>
  <dcterms:modified xsi:type="dcterms:W3CDTF">2025-11-19T13:36:39Z</dcterms:modified>
</cp:coreProperties>
</file>